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  <p:sldId id="274" r:id="rId25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320040" cy="49240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E2E Testing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Quality Automation with Gemini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5029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QA Engineer  ·  EX Squared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2809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E2E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approach breaks under pressure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break when a developer renames a CSS class or changes placeholder text — test suite goes 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042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requires deep DOM knowledge — only senior engineers can contribute meaningfully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27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108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regressions (wrong layout, empty states, error banners) need separate, expensive tooling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950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 — QA spends more time fixing broken selectors than writing new tests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Testing?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AI brain to your existing automation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testing adds an AI layer (Google Gemini — free tier) that can: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page like a human (via screenshots)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UNDERSTAND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visually, not just by CSS selectors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DECIDE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browser action to take from a plain-English instruction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RECOVER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selectors break by finding new ones automatically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answers yes/no questions from screenshots — no selectors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finds working selectors from the live DOM automatically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executes plain-English test steps in the browser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Visual Assertions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looks at screenshots and answers yes/no questions — no selectors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page.locator(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"table tbody tr"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).count() &gt;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3657600" cy="0"/>
          </a:xfrm>
          <a:prstGeom prst="line">
            <a:avLst/>
          </a:prstGeom>
          <a:noFill/>
          <a:ln w="1016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class names change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Placeholder text updated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 structure refactored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ASSERTION (Gemini)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ai_verify(page,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"Is the letter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table visible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data rows?")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3657600" cy="0"/>
          </a:xfrm>
          <a:prstGeom prst="line">
            <a:avLst/>
          </a:prstGeom>
          <a:noFill/>
          <a:ln w="1016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260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sees the page visually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Understands intent, not markup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Survives any DOM change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Self-Healing Selectors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selector breaks, Gemini finds a working one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renames a CSS class or changes placeholder text in the app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428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Breaks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7860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selector no longer matches — traditional test FAILS immediately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5312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325880"/>
            <a:ext cx="1965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Inspects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2744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ai_find_selector() sends the live DOM + screenshot to Gemini for analysis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0196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6656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325880"/>
            <a:ext cx="196596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7628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the correct selector — test continues with zero downtime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422452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Selector maintenance is the #1 cost of E2E test suites — self-healing eliminates it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Autonomous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steps → Gemini drives the browser — no selectors written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QA ENGINEER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Verify the dashboard has loaded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Click Letter Configuration in sidebar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Click on Letter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Verify table is visible with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Confirm no error banner is shown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Plain English. Zero selectors.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15968" y="340156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Gemini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384048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18105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1 — verify:  YES (2.1s)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3591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2 — click:   button.expand-btn (1.4s)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3 — click:   a[href*=letter-type] (0.9s)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456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4 — verify:  YES (1.8s)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0050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5 — verify:  NO error (1.2s)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PASSED 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in Your Existing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assertion with smart_assert() — it heals itself when selectors break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4023360" cy="1920240"/>
          </a:xfrm>
          <a:prstGeom prst="rect">
            <a:avLst/>
          </a:prstGeom>
          <a:solidFill>
            <a:srgbClr val="0A1F3D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023360" cy="31089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Fragile (breaks when selector changes)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test_sanity.py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letter_type_page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.is_loaded()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BREAKS if search 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CSS class is renamed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70832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97680" y="2487168"/>
            <a:ext cx="694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smart_assert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261872"/>
            <a:ext cx="3931920" cy="192024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61872"/>
            <a:ext cx="393192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Self-Healing 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162763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smart_assert(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page,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lambda: letter_type_page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.is_loaded(),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"Is the Letter Type 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loaded with search box?"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8412480" cy="15087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AT RUNTIME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1920240" cy="1005840"/>
          </a:xfrm>
          <a:prstGeom prst="rect">
            <a:avLst/>
          </a:prstGeom>
          <a:solidFill>
            <a:srgbClr val="0A1F3D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3675888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(free, instant)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95728" y="400507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4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06040" y="3639312"/>
            <a:ext cx="1920240" cy="1005840"/>
          </a:xfrm>
          <a:prstGeom prst="rect">
            <a:avLst/>
          </a:prstGeom>
          <a:solidFill>
            <a:srgbClr val="0A1F3D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79192" y="3675888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done 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API calls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400507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4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3639312"/>
            <a:ext cx="1920240" cy="1005840"/>
          </a:xfrm>
          <a:prstGeom prst="rect">
            <a:avLst/>
          </a:prstGeom>
          <a:solidFill>
            <a:srgbClr val="0A1F3D"/>
          </a:solidFill>
          <a:ln w="1524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3675888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looks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screenshot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400507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4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03720" y="3639312"/>
            <a:ext cx="1920240" cy="1005840"/>
          </a:xfrm>
          <a:prstGeom prst="rect">
            <a:avLst/>
          </a:prstGeom>
          <a:solidFill>
            <a:srgbClr val="0A1F3D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76872" y="3675888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= test healed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= real bug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 — Agent-Ready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sits on top — nothing replaced, only enhanced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 (unchanged)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+ 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971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 Google Gemini AI Layer added on top  (free tier — 1,500 req/day)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(new)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ai_find_selector()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0156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3620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Steps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"Nothing was replaced. The AI layer sits ON TOP of our existing suite — existing tests keep running normally."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 — The 4 AI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 from utils/ai_agent.py — powered by Google Gemini (free tier)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02336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ai_verify()  — Visual Assertion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Ask Gemini: is the table visible?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ai_verify(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page,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"Is the letter type 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visible with data rows?"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result   # True = YES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61872"/>
            <a:ext cx="402336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smart_assert()  — Cost-Efficient Check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627632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Playwright first (free). AI only on fail.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smart_assert(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page,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lambda: page.locator(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"table tbody tr"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).first.is_visible(),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"Is the table visible?"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4023360" cy="31089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ai_find_selector()  — Self-Healing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56616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Broken selector? Gemini fixes it.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 = ai_find_selector(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page,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"search box for letter types"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page.locator(sel).fill("EOB")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00400"/>
            <a:ext cx="4023360" cy="310896"/>
          </a:xfrm>
          <a:prstGeom prst="rect">
            <a:avLst/>
          </a:prstGeom>
          <a:solidFill>
            <a:srgbClr val="B0C4D4"/>
          </a:solidFill>
          <a:ln w="12700">
            <a:solidFill>
              <a:srgbClr val="B0C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AIAgent.run_steps()  — Autonomous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56616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AIAgent(page)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agent.run_steps([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"Click Letter Config in sidebar",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"Click on Letter Type",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"Verify the table is visible",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Gemini decides every click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Ready to Run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agentic_autonomize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447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utils/ai_agent.py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helpers — ai_verify, smart_assert, ai_find_selector, AIAgent class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73568" y="1444752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73568" y="1490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lines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2494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tests/test_agentic.py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26771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agentic test cases across all 3 levels, tagged @pytest.mark.agentic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2249424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73568" y="22951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540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demo_agentic.py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307238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live demo script with colour-coded terminal output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3568" y="3054096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73568" y="30998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58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docs/AGENTIC_TESTING.md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87705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 with usage guide and architecture diagram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73568" y="3858768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73568" y="3904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$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agentic -v -s</a:t>
            </a:r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or 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demo_agentic.py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commands before the meeting — takes 5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(run once)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4023360" cy="1005840"/>
          </a:xfrm>
          <a:prstGeom prst="rect">
            <a:avLst/>
          </a:prstGeom>
          <a:solidFill>
            <a:srgbClr val="0A1F3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27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agentic_autonomize
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626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live demo (recommended)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demo_agentic.py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584448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210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agentic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agentic -v -s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242816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at a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tests/test_agentic.py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::TestAIVisualAssertions -v -s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  (talking points per log line)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via normal check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"Normal check passed — zero API cost, instant"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404872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450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624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check FAILED — escalating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880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"Selector broke, Gemini is now looking at the screenshot"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255264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3009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474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 → 'YES'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"Gemini confirmed the element is there — test self-healed"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05656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4151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3251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step logs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581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"I wrote plain English — Gemini decides what to click"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636008"/>
            <a:ext cx="8412480" cy="384048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Tip: demo_agentic.py pauses at each level — press ENTER when ready so you can explain before it runs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team and the product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4114800" cy="1097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 cases written in plain English in minutes, not hours. No selector research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53312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RESILIENT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 reduce test maintenance cost. UI changes no longer break the suite.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41148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ACCESSIBLE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and PMs can write test cases without coding or DOM knowledge.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82112"/>
            <a:ext cx="4114800" cy="109728"/>
          </a:xfrm>
          <a:prstGeom prst="rect">
            <a:avLst/>
          </a:prstGeom>
          <a:solidFill>
            <a:srgbClr val="B0C4D4"/>
          </a:solidFill>
          <a:ln w="12700">
            <a:solidFill>
              <a:srgbClr val="B0C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CONFIDENT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assertions catch UI regressions that selector-based tests miss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914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607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layer in CI/CD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5179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GEMINI_API_KEY to the pipeline environment (free key from aistudio.google.com). Framework is already integrated.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21992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951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3317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flaky selectors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75234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top 10 most-brittle selectors with ai_find_selector() as an automatic fallback.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56432"/>
            <a:ext cx="91440" cy="10972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95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sprint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5661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plain-English tests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98678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next sprint's new test cases using AIAgent.run_steps() — measure time saved vs traditional.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is ready.  We just need to turn it 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king All 59 Tests Agentic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lideTitle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All 59 Tests Agentic</a:t>
            </a:r>
            <a:endParaRPr lang="en-US" dirty="0"/>
          </a:p>
        </p:txBody>
      </p:sp>
      <p:sp>
        <p:nvSpPr>
          <p:cNvPr id="4" name="SlideSubtitle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sanity test now runs with hybrid AI fallback</a:t>
            </a:r>
            <a:endParaRPr lang="en-US" dirty="0"/>
          </a:p>
        </p:txBody>
      </p:sp>
      <p:sp>
        <p:nvSpPr>
          <p:cNvPr id="5" name="Sep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IntroBg"/>
          <p:cNvSpPr/>
          <p:nvPr/>
        </p:nvSpPr>
        <p:spPr>
          <a:xfrm>
            <a:off x="365760" y="1280160"/>
            <a:ext cx="8412480" cy="530352"/>
          </a:xfrm>
          <a:prstGeom prst="rect">
            <a:avLst/>
          </a:prstGeom>
          <a:solidFill>
            <a:srgbClr val="0A1F3D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IntroText"/>
          <p:cNvSpPr/>
          <p:nvPr/>
        </p:nvSpPr>
        <p:spPr>
          <a:xfrm>
            <a:off x="502920" y="1298448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Previously: </a:t>
            </a: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only 8 tests in test_agentic.py used AI (Level 1/2/3)   </a:t>
            </a: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Now: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59 sanity test cases converted to hybrid agentic approach</a:t>
            </a:r>
            <a:endParaRPr lang="en-US" dirty="0"/>
          </a:p>
        </p:txBody>
      </p:sp>
      <p:sp>
        <p:nvSpPr>
          <p:cNvPr id="8" name="CardBg"/>
          <p:cNvSpPr/>
          <p:nvPr/>
        </p:nvSpPr>
        <p:spPr>
          <a:xfrm>
            <a:off x="365760" y="1993392"/>
            <a:ext cx="3931920" cy="960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CardAccent"/>
          <p:cNvSpPr/>
          <p:nvPr/>
        </p:nvSpPr>
        <p:spPr>
          <a:xfrm>
            <a:off x="365760" y="1993392"/>
            <a:ext cx="393192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Stat"/>
          <p:cNvSpPr/>
          <p:nvPr/>
        </p:nvSpPr>
        <p:spPr>
          <a:xfrm>
            <a:off x="50292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dirty="0"/>
          </a:p>
        </p:txBody>
      </p:sp>
      <p:sp>
        <p:nvSpPr>
          <p:cNvPr id="11" name="Label1"/>
          <p:cNvSpPr/>
          <p:nvPr/>
        </p:nvSpPr>
        <p:spPr>
          <a:xfrm>
            <a:off x="1645919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Tests</a:t>
            </a:r>
            <a:endParaRPr lang="en-US" dirty="0"/>
          </a:p>
        </p:txBody>
      </p:sp>
      <p:sp>
        <p:nvSpPr>
          <p:cNvPr id="12" name="Label2"/>
          <p:cNvSpPr/>
          <p:nvPr/>
        </p:nvSpPr>
        <p:spPr>
          <a:xfrm>
            <a:off x="1645919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converted to hybrid agentic</a:t>
            </a:r>
            <a:endParaRPr lang="en-US" dirty="0"/>
          </a:p>
        </p:txBody>
      </p:sp>
      <p:sp>
        <p:nvSpPr>
          <p:cNvPr id="13" name="CardBg"/>
          <p:cNvSpPr/>
          <p:nvPr/>
        </p:nvSpPr>
        <p:spPr>
          <a:xfrm>
            <a:off x="4663440" y="1993392"/>
            <a:ext cx="3931920" cy="960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CardAccent"/>
          <p:cNvSpPr/>
          <p:nvPr/>
        </p:nvSpPr>
        <p:spPr>
          <a:xfrm>
            <a:off x="4663440" y="1993392"/>
            <a:ext cx="3931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Stat"/>
          <p:cNvSpPr/>
          <p:nvPr/>
        </p:nvSpPr>
        <p:spPr>
          <a:xfrm>
            <a:off x="480060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dirty="0"/>
          </a:p>
        </p:txBody>
      </p:sp>
      <p:sp>
        <p:nvSpPr>
          <p:cNvPr id="16" name="Label1"/>
          <p:cNvSpPr/>
          <p:nvPr/>
        </p:nvSpPr>
        <p:spPr>
          <a:xfrm>
            <a:off x="594360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</a:t>
            </a:r>
            <a:endParaRPr lang="en-US" dirty="0"/>
          </a:p>
        </p:txBody>
      </p:sp>
      <p:sp>
        <p:nvSpPr>
          <p:cNvPr id="17" name="Label2"/>
          <p:cNvSpPr/>
          <p:nvPr/>
        </p:nvSpPr>
        <p:spPr>
          <a:xfrm>
            <a:off x="5943600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test files updated</a:t>
            </a:r>
            <a:endParaRPr lang="en-US" dirty="0"/>
          </a:p>
        </p:txBody>
      </p:sp>
      <p:sp>
        <p:nvSpPr>
          <p:cNvPr id="18" name="CardBg"/>
          <p:cNvSpPr/>
          <p:nvPr/>
        </p:nvSpPr>
        <p:spPr>
          <a:xfrm>
            <a:off x="365760" y="3127248"/>
            <a:ext cx="3931920" cy="960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CardAccent"/>
          <p:cNvSpPr/>
          <p:nvPr/>
        </p:nvSpPr>
        <p:spPr>
          <a:xfrm>
            <a:off x="365760" y="3127248"/>
            <a:ext cx="3931920" cy="914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0" name="Stat"/>
          <p:cNvSpPr/>
          <p:nvPr/>
        </p:nvSpPr>
        <p:spPr>
          <a:xfrm>
            <a:off x="502920" y="323697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dirty="0"/>
          </a:p>
        </p:txBody>
      </p:sp>
      <p:sp>
        <p:nvSpPr>
          <p:cNvPr id="21" name="Label1"/>
          <p:cNvSpPr/>
          <p:nvPr/>
        </p:nvSpPr>
        <p:spPr>
          <a:xfrm>
            <a:off x="1645919" y="32369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smart_assert Sites</a:t>
            </a:r>
            <a:endParaRPr lang="en-US" dirty="0"/>
          </a:p>
        </p:txBody>
      </p:sp>
      <p:sp>
        <p:nvSpPr>
          <p:cNvPr id="22" name="Label2"/>
          <p:cNvSpPr/>
          <p:nvPr/>
        </p:nvSpPr>
        <p:spPr>
          <a:xfrm>
            <a:off x="1645919" y="36027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sites added across suite</a:t>
            </a:r>
            <a:endParaRPr lang="en-US" dirty="0"/>
          </a:p>
        </p:txBody>
      </p:sp>
      <p:sp>
        <p:nvSpPr>
          <p:cNvPr id="23" name="CardBg"/>
          <p:cNvSpPr/>
          <p:nvPr/>
        </p:nvSpPr>
        <p:spPr>
          <a:xfrm>
            <a:off x="4663440" y="3127248"/>
            <a:ext cx="3931920" cy="960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CardAccent"/>
          <p:cNvSpPr/>
          <p:nvPr/>
        </p:nvSpPr>
        <p:spPr>
          <a:xfrm>
            <a:off x="4663440" y="3127248"/>
            <a:ext cx="3931920" cy="91440"/>
          </a:xfrm>
          <a:prstGeom prst="rect">
            <a:avLst/>
          </a:prstGeom>
          <a:solidFill>
            <a:srgbClr val="B0C4D4"/>
          </a:solidFill>
          <a:ln/>
        </p:spPr>
      </p:sp>
      <p:sp>
        <p:nvSpPr>
          <p:cNvPr id="25" name="Stat"/>
          <p:cNvSpPr/>
          <p:nvPr/>
        </p:nvSpPr>
        <p:spPr>
          <a:xfrm>
            <a:off x="4800600" y="323697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26" name="Label1"/>
          <p:cNvSpPr/>
          <p:nvPr/>
        </p:nvSpPr>
        <p:spPr>
          <a:xfrm>
            <a:off x="5943600" y="32369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Marks</a:t>
            </a:r>
            <a:endParaRPr lang="en-US" dirty="0"/>
          </a:p>
        </p:txBody>
      </p:sp>
      <p:sp>
        <p:nvSpPr>
          <p:cNvPr id="27" name="Label2"/>
          <p:cNvSpPr/>
          <p:nvPr/>
        </p:nvSpPr>
        <p:spPr>
          <a:xfrm>
            <a:off x="5943600" y="36027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.sanity and .agentic on every test</a:t>
            </a:r>
            <a:endParaRPr lang="en-US" dirty="0"/>
          </a:p>
        </p:txBody>
      </p:sp>
      <p:sp>
        <p:nvSpPr>
          <p:cNvPr id="28" name="BotBg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29" name="BotText"/>
          <p:cNvSpPr/>
          <p:nvPr/>
        </p:nvSpPr>
        <p:spPr>
          <a:xfrm>
            <a:off x="50292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test tagged with both </a:t>
            </a: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pytest.mark.sanity</a:t>
            </a: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and  </a:t>
            </a: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pytest.mark.agentic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smart_assert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lideTitle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smart_assert?</a:t>
            </a:r>
            <a:endParaRPr lang="en-US" dirty="0"/>
          </a:p>
        </p:txBody>
      </p:sp>
      <p:sp>
        <p:nvSpPr>
          <p:cNvPr id="4" name="SlideSubtitle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assertion - Playwright first, Gemini only on failure</a:t>
            </a:r>
            <a:endParaRPr lang="en-US" dirty="0"/>
          </a:p>
        </p:txBody>
      </p:sp>
      <p:sp>
        <p:nvSpPr>
          <p:cNvPr id="5" name="Sep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Row"/>
          <p:cNvSpPr/>
          <p:nvPr/>
        </p:nvSpPr>
        <p:spPr>
          <a:xfrm>
            <a:off x="365760" y="1298448"/>
            <a:ext cx="4206240" cy="64008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RowAccent"/>
          <p:cNvSpPr/>
          <p:nvPr/>
        </p:nvSpPr>
        <p:spPr>
          <a:xfrm>
            <a:off x="365760" y="1298448"/>
            <a:ext cx="9144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RowHead"/>
          <p:cNvSpPr/>
          <p:nvPr/>
        </p:nvSpPr>
        <p:spPr>
          <a:xfrm>
            <a:off x="566928" y="13533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check runs first</a:t>
            </a:r>
            <a:endParaRPr lang="en-US" dirty="0"/>
          </a:p>
        </p:txBody>
      </p:sp>
      <p:sp>
        <p:nvSpPr>
          <p:cNvPr id="9" name="RowBody"/>
          <p:cNvSpPr/>
          <p:nvPr/>
        </p:nvSpPr>
        <p:spPr>
          <a:xfrm>
            <a:off x="566928" y="1645919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instant - no API call, zero cost, zero latency</a:t>
            </a:r>
            <a:endParaRPr lang="en-US" dirty="0"/>
          </a:p>
        </p:txBody>
      </p:sp>
      <p:sp>
        <p:nvSpPr>
          <p:cNvPr id="10" name="Row"/>
          <p:cNvSpPr/>
          <p:nvPr/>
        </p:nvSpPr>
        <p:spPr>
          <a:xfrm>
            <a:off x="365760" y="2029967"/>
            <a:ext cx="4206240" cy="64008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RowAccent"/>
          <p:cNvSpPr/>
          <p:nvPr/>
        </p:nvSpPr>
        <p:spPr>
          <a:xfrm>
            <a:off x="365760" y="2029967"/>
            <a:ext cx="9144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RowHead"/>
          <p:cNvSpPr/>
          <p:nvPr/>
        </p:nvSpPr>
        <p:spPr>
          <a:xfrm>
            <a:off x="566928" y="2084831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calls Gemini AI on failure</a:t>
            </a:r>
            <a:endParaRPr lang="en-US" dirty="0"/>
          </a:p>
        </p:txBody>
      </p:sp>
      <p:sp>
        <p:nvSpPr>
          <p:cNvPr id="13" name="RowBody"/>
          <p:cNvSpPr/>
          <p:nvPr/>
        </p:nvSpPr>
        <p:spPr>
          <a:xfrm>
            <a:off x="566928" y="2377439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API calls by 80-90% - AI activates only when needed</a:t>
            </a:r>
            <a:endParaRPr lang="en-US" dirty="0"/>
          </a:p>
        </p:txBody>
      </p:sp>
      <p:sp>
        <p:nvSpPr>
          <p:cNvPr id="14" name="Row"/>
          <p:cNvSpPr/>
          <p:nvPr/>
        </p:nvSpPr>
        <p:spPr>
          <a:xfrm>
            <a:off x="365760" y="2761487"/>
            <a:ext cx="4206240" cy="64008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RowAccent"/>
          <p:cNvSpPr/>
          <p:nvPr/>
        </p:nvSpPr>
        <p:spPr>
          <a:xfrm>
            <a:off x="365760" y="2761487"/>
            <a:ext cx="91440" cy="64008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6" name="RowHead"/>
          <p:cNvSpPr/>
          <p:nvPr/>
        </p:nvSpPr>
        <p:spPr>
          <a:xfrm>
            <a:off x="566928" y="2816351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via visual AI</a:t>
            </a:r>
            <a:endParaRPr lang="en-US" dirty="0"/>
          </a:p>
        </p:txBody>
      </p:sp>
      <p:sp>
        <p:nvSpPr>
          <p:cNvPr id="17" name="RowBody"/>
          <p:cNvSpPr/>
          <p:nvPr/>
        </p:nvSpPr>
        <p:spPr>
          <a:xfrm>
            <a:off x="566928" y="3108959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looks at screenshot and decides yes/no visually</a:t>
            </a:r>
            <a:endParaRPr lang="en-US" dirty="0"/>
          </a:p>
        </p:txBody>
      </p:sp>
      <p:sp>
        <p:nvSpPr>
          <p:cNvPr id="18" name="Row"/>
          <p:cNvSpPr/>
          <p:nvPr/>
        </p:nvSpPr>
        <p:spPr>
          <a:xfrm>
            <a:off x="365760" y="3493007"/>
            <a:ext cx="4206240" cy="64008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RowAccent"/>
          <p:cNvSpPr/>
          <p:nvPr/>
        </p:nvSpPr>
        <p:spPr>
          <a:xfrm>
            <a:off x="365760" y="3493007"/>
            <a:ext cx="91440" cy="640080"/>
          </a:xfrm>
          <a:prstGeom prst="rect">
            <a:avLst/>
          </a:prstGeom>
          <a:solidFill>
            <a:srgbClr val="B0C4D4"/>
          </a:solidFill>
          <a:ln/>
        </p:spPr>
      </p:sp>
      <p:sp>
        <p:nvSpPr>
          <p:cNvPr id="20" name="RowHead"/>
          <p:cNvSpPr/>
          <p:nvPr/>
        </p:nvSpPr>
        <p:spPr>
          <a:xfrm>
            <a:off x="566928" y="3547871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without API key</a:t>
            </a:r>
            <a:endParaRPr lang="en-US" dirty="0"/>
          </a:p>
        </p:txBody>
      </p:sp>
      <p:sp>
        <p:nvSpPr>
          <p:cNvPr id="21" name="RowBody"/>
          <p:cNvSpPr/>
          <p:nvPr/>
        </p:nvSpPr>
        <p:spPr>
          <a:xfrm>
            <a:off x="566928" y="3840479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Playwright result silently if no key set</a:t>
            </a:r>
            <a:endParaRPr lang="en-US" dirty="0"/>
          </a:p>
        </p:txBody>
      </p:sp>
      <p:sp>
        <p:nvSpPr>
          <p:cNvPr id="22" name="RightBg"/>
          <p:cNvSpPr/>
          <p:nvPr/>
        </p:nvSpPr>
        <p:spPr>
          <a:xfrm>
            <a:off x="4846320" y="1298448"/>
            <a:ext cx="3931920" cy="3474720"/>
          </a:xfrm>
          <a:prstGeom prst="rect">
            <a:avLst/>
          </a:prstGeom>
          <a:solidFill>
            <a:srgbClr val="0A1F3D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RightHdr"/>
          <p:cNvSpPr/>
          <p:nvPr/>
        </p:nvSpPr>
        <p:spPr>
          <a:xfrm>
            <a:off x="4846320" y="1298448"/>
            <a:ext cx="3931920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RightHdrText"/>
          <p:cNvSpPr/>
          <p:nvPr/>
        </p:nvSpPr>
        <p:spPr>
          <a:xfrm>
            <a:off x="4937760" y="1316736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dirty="0"/>
          </a:p>
        </p:txBody>
      </p:sp>
      <p:sp>
        <p:nvSpPr>
          <p:cNvPr id="25" name="SigCode"/>
          <p:cNvSpPr/>
          <p:nvPr/>
        </p:nvSpPr>
        <p:spPr>
          <a:xfrm>
            <a:off x="4956048" y="1682496"/>
            <a:ext cx="37490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smart_assert(page, check_fn, question, expected=True)</a:t>
            </a:r>
            <a:endParaRPr lang="en-US" dirty="0"/>
          </a:p>
        </p:txBody>
      </p:sp>
      <p:sp>
        <p:nvSpPr>
          <p:cNvPr id="26" name="Param"/>
          <p:cNvSpPr/>
          <p:nvPr/>
        </p:nvSpPr>
        <p:spPr>
          <a:xfrm>
            <a:off x="4956048" y="2231136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page: </a:t>
            </a: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page object</a:t>
            </a:r>
            <a:endParaRPr lang="en-US" dirty="0"/>
          </a:p>
        </p:txBody>
      </p:sp>
      <p:sp>
        <p:nvSpPr>
          <p:cNvPr id="27" name="Param"/>
          <p:cNvSpPr/>
          <p:nvPr/>
        </p:nvSpPr>
        <p:spPr>
          <a:xfrm>
            <a:off x="4956048" y="2505456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check_fn: </a:t>
            </a: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returning bool (Playwright check)</a:t>
            </a:r>
            <a:endParaRPr lang="en-US" dirty="0"/>
          </a:p>
        </p:txBody>
      </p:sp>
      <p:sp>
        <p:nvSpPr>
          <p:cNvPr id="28" name="Param"/>
          <p:cNvSpPr/>
          <p:nvPr/>
        </p:nvSpPr>
        <p:spPr>
          <a:xfrm>
            <a:off x="4956048" y="2779775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question: </a:t>
            </a: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yes/no for Gemini fallback</a:t>
            </a:r>
            <a:endParaRPr lang="en-US" dirty="0"/>
          </a:p>
        </p:txBody>
      </p:sp>
      <p:sp>
        <p:nvSpPr>
          <p:cNvPr id="29" name="Param"/>
          <p:cNvSpPr/>
          <p:nvPr/>
        </p:nvSpPr>
        <p:spPr>
          <a:xfrm>
            <a:off x="4956048" y="3054095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expected: </a:t>
            </a: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AI answer (default True)</a:t>
            </a:r>
            <a:endParaRPr lang="en-US" dirty="0"/>
          </a:p>
        </p:txBody>
      </p:sp>
      <p:sp>
        <p:nvSpPr>
          <p:cNvPr id="30" name="ExBg"/>
          <p:cNvSpPr/>
          <p:nvPr/>
        </p:nvSpPr>
        <p:spPr>
          <a:xfrm>
            <a:off x="4846320" y="3511296"/>
            <a:ext cx="3931920" cy="896112"/>
          </a:xfrm>
          <a:prstGeom prst="rect">
            <a:avLst/>
          </a:prstGeom>
          <a:solidFill>
            <a:srgbClr val="112255"/>
          </a:solidFill>
          <a:ln/>
        </p:spPr>
      </p:sp>
      <p:sp>
        <p:nvSpPr>
          <p:cNvPr id="31" name="ExHead"/>
          <p:cNvSpPr/>
          <p:nvPr/>
        </p:nvSpPr>
        <p:spPr>
          <a:xfrm>
            <a:off x="4956048" y="3529584"/>
            <a:ext cx="37490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dirty="0"/>
          </a:p>
        </p:txBody>
      </p:sp>
      <p:sp>
        <p:nvSpPr>
          <p:cNvPr id="32" name="ExCode"/>
          <p:cNvSpPr/>
          <p:nvPr/>
        </p:nvSpPr>
        <p:spPr>
          <a:xfrm>
            <a:off x="4956048" y="3749039"/>
            <a:ext cx="37490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smart_assert(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page,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lambda: page.is_loaded(),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"Is the page loaded?",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Was Converted by File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lideTitle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Converted - by File</a:t>
            </a:r>
            <a:endParaRPr lang="en-US" dirty="0"/>
          </a:p>
        </p:txBody>
      </p:sp>
      <p:sp>
        <p:nvSpPr>
          <p:cNvPr id="4" name="SlideSubtitle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smart_assert call sites added across all 13 test files</a:t>
            </a:r>
            <a:endParaRPr lang="en-US" dirty="0"/>
          </a:p>
        </p:txBody>
      </p:sp>
      <p:sp>
        <p:nvSpPr>
          <p:cNvPr id="5" name="Sep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HdrBg"/>
          <p:cNvSpPr/>
          <p:nvPr/>
        </p:nvSpPr>
        <p:spPr>
          <a:xfrm>
            <a:off x="365760" y="1280160"/>
            <a:ext cx="8412480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HdrFile"/>
          <p:cNvSpPr/>
          <p:nvPr/>
        </p:nvSpPr>
        <p:spPr>
          <a:xfrm>
            <a:off x="475488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</a:t>
            </a:r>
            <a:endParaRPr lang="en-US" dirty="0"/>
          </a:p>
        </p:txBody>
      </p:sp>
      <p:sp>
        <p:nvSpPr>
          <p:cNvPr id="8" name="HdrAssert"/>
          <p:cNvSpPr/>
          <p:nvPr/>
        </p:nvSpPr>
        <p:spPr>
          <a:xfrm>
            <a:off x="3584448" y="12984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Converted</a:t>
            </a:r>
            <a:endParaRPr lang="en-US" dirty="0"/>
          </a:p>
        </p:txBody>
      </p:sp>
      <p:sp>
        <p:nvSpPr>
          <p:cNvPr id="9" name="Row0"/>
          <p:cNvSpPr/>
          <p:nvPr/>
        </p:nvSpPr>
        <p:spPr>
          <a:xfrm>
            <a:off x="365760" y="1627632"/>
            <a:ext cx="8412480" cy="242316"/>
          </a:xfrm>
          <a:prstGeom prst="rect">
            <a:avLst/>
          </a:prstGeom>
          <a:solidFill>
            <a:srgbClr val="112255"/>
          </a:solidFill>
          <a:ln/>
        </p:spPr>
      </p:sp>
      <p:sp>
        <p:nvSpPr>
          <p:cNvPr id="10" name="RowFile0"/>
          <p:cNvSpPr/>
          <p:nvPr/>
        </p:nvSpPr>
        <p:spPr>
          <a:xfrm>
            <a:off x="475488" y="1655064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test_sanity.py</a:t>
            </a:r>
            <a:endParaRPr lang="en-US" dirty="0"/>
          </a:p>
        </p:txBody>
      </p:sp>
      <p:sp>
        <p:nvSpPr>
          <p:cNvPr id="11" name="RowAssert0"/>
          <p:cNvSpPr/>
          <p:nvPr/>
        </p:nvSpPr>
        <p:spPr>
          <a:xfrm>
            <a:off x="3566160" y="1655064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form, page loads, session checks</a:t>
            </a:r>
            <a:endParaRPr lang="en-US" dirty="0"/>
          </a:p>
        </p:txBody>
      </p:sp>
      <p:sp>
        <p:nvSpPr>
          <p:cNvPr id="12" name="Row1"/>
          <p:cNvSpPr/>
          <p:nvPr/>
        </p:nvSpPr>
        <p:spPr>
          <a:xfrm>
            <a:off x="365760" y="1869948"/>
            <a:ext cx="8412480" cy="242316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3" name="RowFile1"/>
          <p:cNvSpPr/>
          <p:nvPr/>
        </p:nvSpPr>
        <p:spPr>
          <a:xfrm>
            <a:off x="475488" y="1897379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test_dashboard.py</a:t>
            </a:r>
            <a:endParaRPr lang="en-US" dirty="0"/>
          </a:p>
        </p:txBody>
      </p:sp>
      <p:sp>
        <p:nvSpPr>
          <p:cNvPr id="14" name="RowAssert1"/>
          <p:cNvSpPr/>
          <p:nvPr/>
        </p:nvSpPr>
        <p:spPr>
          <a:xfrm>
            <a:off x="3566160" y="1897379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is_loaded() for stat card pages</a:t>
            </a:r>
            <a:endParaRPr lang="en-US" dirty="0"/>
          </a:p>
        </p:txBody>
      </p:sp>
      <p:sp>
        <p:nvSpPr>
          <p:cNvPr id="15" name="Row2"/>
          <p:cNvSpPr/>
          <p:nvPr/>
        </p:nvSpPr>
        <p:spPr>
          <a:xfrm>
            <a:off x="365760" y="2112264"/>
            <a:ext cx="8412480" cy="242316"/>
          </a:xfrm>
          <a:prstGeom prst="rect">
            <a:avLst/>
          </a:prstGeom>
          <a:solidFill>
            <a:srgbClr val="112255"/>
          </a:solidFill>
          <a:ln/>
        </p:spPr>
      </p:sp>
      <p:sp>
        <p:nvSpPr>
          <p:cNvPr id="16" name="RowFile2"/>
          <p:cNvSpPr/>
          <p:nvPr/>
        </p:nvSpPr>
        <p:spPr>
          <a:xfrm>
            <a:off x="475488" y="2139696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test_letter_type.py</a:t>
            </a:r>
            <a:endParaRPr lang="en-US" dirty="0"/>
          </a:p>
        </p:txBody>
      </p:sp>
      <p:sp>
        <p:nvSpPr>
          <p:cNvPr id="17" name="RowAssert2"/>
          <p:cNvSpPr/>
          <p:nvPr/>
        </p:nvSpPr>
        <p:spPr>
          <a:xfrm>
            <a:off x="3566160" y="2139696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loads, download button visibility</a:t>
            </a:r>
            <a:endParaRPr lang="en-US" dirty="0"/>
          </a:p>
        </p:txBody>
      </p:sp>
      <p:sp>
        <p:nvSpPr>
          <p:cNvPr id="18" name="Row3"/>
          <p:cNvSpPr/>
          <p:nvPr/>
        </p:nvSpPr>
        <p:spPr>
          <a:xfrm>
            <a:off x="365760" y="2354580"/>
            <a:ext cx="8412480" cy="242316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9" name="RowFile3"/>
          <p:cNvSpPr/>
          <p:nvPr/>
        </p:nvSpPr>
        <p:spPr>
          <a:xfrm>
            <a:off x="475488" y="2382012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test_letter_type_details.py</a:t>
            </a:r>
            <a:endParaRPr lang="en-US" dirty="0"/>
          </a:p>
        </p:txBody>
      </p:sp>
      <p:sp>
        <p:nvSpPr>
          <p:cNvPr id="20" name="RowAssert3"/>
          <p:cNvSpPr/>
          <p:nvPr/>
        </p:nvSpPr>
        <p:spPr>
          <a:xfrm>
            <a:off x="3566160" y="2382012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is_loaded(), version dropdown, validation summary</a:t>
            </a:r>
            <a:endParaRPr lang="en-US" dirty="0"/>
          </a:p>
        </p:txBody>
      </p:sp>
      <p:sp>
        <p:nvSpPr>
          <p:cNvPr id="21" name="Row4"/>
          <p:cNvSpPr/>
          <p:nvPr/>
        </p:nvSpPr>
        <p:spPr>
          <a:xfrm>
            <a:off x="365760" y="2596896"/>
            <a:ext cx="8412480" cy="242316"/>
          </a:xfrm>
          <a:prstGeom prst="rect">
            <a:avLst/>
          </a:prstGeom>
          <a:solidFill>
            <a:srgbClr val="112255"/>
          </a:solidFill>
          <a:ln/>
        </p:spPr>
      </p:sp>
      <p:sp>
        <p:nvSpPr>
          <p:cNvPr id="22" name="RowFile4"/>
          <p:cNvSpPr/>
          <p:nvPr/>
        </p:nvSpPr>
        <p:spPr>
          <a:xfrm>
            <a:off x="475488" y="2624328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test_letter_type_editor.py</a:t>
            </a:r>
            <a:endParaRPr lang="en-US" dirty="0"/>
          </a:p>
        </p:txBody>
      </p:sp>
      <p:sp>
        <p:nvSpPr>
          <p:cNvPr id="23" name="RowAssert4"/>
          <p:cNvSpPr/>
          <p:nvPr/>
        </p:nvSpPr>
        <p:spPr>
          <a:xfrm>
            <a:off x="3566160" y="2624328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load, diff view, reset, submit</a:t>
            </a:r>
            <a:endParaRPr lang="en-US" dirty="0"/>
          </a:p>
        </p:txBody>
      </p:sp>
      <p:sp>
        <p:nvSpPr>
          <p:cNvPr id="24" name="Row5"/>
          <p:cNvSpPr/>
          <p:nvPr/>
        </p:nvSpPr>
        <p:spPr>
          <a:xfrm>
            <a:off x="365760" y="2839212"/>
            <a:ext cx="8412480" cy="242316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25" name="RowFile5"/>
          <p:cNvSpPr/>
          <p:nvPr/>
        </p:nvSpPr>
        <p:spPr>
          <a:xfrm>
            <a:off x="475488" y="2866644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test_component_library.py</a:t>
            </a:r>
            <a:endParaRPr lang="en-US" dirty="0"/>
          </a:p>
        </p:txBody>
      </p:sp>
      <p:sp>
        <p:nvSpPr>
          <p:cNvPr id="26" name="RowAssert5"/>
          <p:cNvSpPr/>
          <p:nvPr/>
        </p:nvSpPr>
        <p:spPr>
          <a:xfrm>
            <a:off x="3566160" y="2866644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is_loaded(), all tab checks</a:t>
            </a:r>
            <a:endParaRPr lang="en-US" dirty="0"/>
          </a:p>
        </p:txBody>
      </p:sp>
      <p:sp>
        <p:nvSpPr>
          <p:cNvPr id="27" name="Row6"/>
          <p:cNvSpPr/>
          <p:nvPr/>
        </p:nvSpPr>
        <p:spPr>
          <a:xfrm>
            <a:off x="365760" y="3081528"/>
            <a:ext cx="8412480" cy="242316"/>
          </a:xfrm>
          <a:prstGeom prst="rect">
            <a:avLst/>
          </a:prstGeom>
          <a:solidFill>
            <a:srgbClr val="112255"/>
          </a:solidFill>
          <a:ln/>
        </p:spPr>
      </p:sp>
      <p:sp>
        <p:nvSpPr>
          <p:cNvPr id="28" name="RowFile6"/>
          <p:cNvSpPr/>
          <p:nvPr/>
        </p:nvSpPr>
        <p:spPr>
          <a:xfrm>
            <a:off x="475488" y="3108960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test_letter_consolidation.py</a:t>
            </a:r>
            <a:endParaRPr lang="en-US" dirty="0"/>
          </a:p>
        </p:txBody>
      </p:sp>
      <p:sp>
        <p:nvSpPr>
          <p:cNvPr id="29" name="RowAssert6"/>
          <p:cNvSpPr/>
          <p:nvPr/>
        </p:nvSpPr>
        <p:spPr>
          <a:xfrm>
            <a:off x="3566160" y="3108960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is_loaded() stability checks</a:t>
            </a:r>
            <a:endParaRPr lang="en-US" dirty="0"/>
          </a:p>
        </p:txBody>
      </p:sp>
      <p:sp>
        <p:nvSpPr>
          <p:cNvPr id="30" name="Row7"/>
          <p:cNvSpPr/>
          <p:nvPr/>
        </p:nvSpPr>
        <p:spPr>
          <a:xfrm>
            <a:off x="365760" y="3323844"/>
            <a:ext cx="8412480" cy="242316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1" name="RowFile7"/>
          <p:cNvSpPr/>
          <p:nvPr/>
        </p:nvSpPr>
        <p:spPr>
          <a:xfrm>
            <a:off x="475488" y="3351276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test_letter_control_center.py</a:t>
            </a:r>
            <a:endParaRPr lang="en-US" dirty="0"/>
          </a:p>
        </p:txBody>
      </p:sp>
      <p:sp>
        <p:nvSpPr>
          <p:cNvPr id="32" name="RowAssert7"/>
          <p:cNvSpPr/>
          <p:nvPr/>
        </p:nvSpPr>
        <p:spPr>
          <a:xfrm>
            <a:off x="3566160" y="3351276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loads, filters, bulk download fallback</a:t>
            </a:r>
            <a:endParaRPr lang="en-US" dirty="0"/>
          </a:p>
        </p:txBody>
      </p:sp>
      <p:sp>
        <p:nvSpPr>
          <p:cNvPr id="33" name="Row8"/>
          <p:cNvSpPr/>
          <p:nvPr/>
        </p:nvSpPr>
        <p:spPr>
          <a:xfrm>
            <a:off x="365760" y="3566160"/>
            <a:ext cx="8412480" cy="242316"/>
          </a:xfrm>
          <a:prstGeom prst="rect">
            <a:avLst/>
          </a:prstGeom>
          <a:solidFill>
            <a:srgbClr val="112255"/>
          </a:solidFill>
          <a:ln/>
        </p:spPr>
      </p:sp>
      <p:sp>
        <p:nvSpPr>
          <p:cNvPr id="34" name="RowFile8"/>
          <p:cNvSpPr/>
          <p:nvPr/>
        </p:nvSpPr>
        <p:spPr>
          <a:xfrm>
            <a:off x="475488" y="3593592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test_letter_import_export.py</a:t>
            </a:r>
            <a:endParaRPr lang="en-US" dirty="0"/>
          </a:p>
        </p:txBody>
      </p:sp>
      <p:sp>
        <p:nvSpPr>
          <p:cNvPr id="35" name="RowAssert8"/>
          <p:cNvSpPr/>
          <p:nvPr/>
        </p:nvSpPr>
        <p:spPr>
          <a:xfrm>
            <a:off x="3566160" y="3593592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loads, export button (was the failing test!)</a:t>
            </a:r>
            <a:endParaRPr lang="en-US" dirty="0"/>
          </a:p>
        </p:txBody>
      </p:sp>
      <p:sp>
        <p:nvSpPr>
          <p:cNvPr id="36" name="Row9"/>
          <p:cNvSpPr/>
          <p:nvPr/>
        </p:nvSpPr>
        <p:spPr>
          <a:xfrm>
            <a:off x="365760" y="3808476"/>
            <a:ext cx="8412480" cy="242316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7" name="RowFile9"/>
          <p:cNvSpPr/>
          <p:nvPr/>
        </p:nvSpPr>
        <p:spPr>
          <a:xfrm>
            <a:off x="475488" y="3835908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test_navigation.py</a:t>
            </a:r>
            <a:endParaRPr lang="en-US" dirty="0"/>
          </a:p>
        </p:txBody>
      </p:sp>
      <p:sp>
        <p:nvSpPr>
          <p:cNvPr id="38" name="RowAssert9"/>
          <p:cNvSpPr/>
          <p:nvPr/>
        </p:nvSpPr>
        <p:spPr>
          <a:xfrm>
            <a:off x="3566160" y="3835908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sidebar page load assertions</a:t>
            </a:r>
            <a:endParaRPr lang="en-US" dirty="0"/>
          </a:p>
        </p:txBody>
      </p:sp>
      <p:sp>
        <p:nvSpPr>
          <p:cNvPr id="39" name="Row10"/>
          <p:cNvSpPr/>
          <p:nvPr/>
        </p:nvSpPr>
        <p:spPr>
          <a:xfrm>
            <a:off x="365760" y="4050792"/>
            <a:ext cx="8412480" cy="242316"/>
          </a:xfrm>
          <a:prstGeom prst="rect">
            <a:avLst/>
          </a:prstGeom>
          <a:solidFill>
            <a:srgbClr val="112255"/>
          </a:solidFill>
          <a:ln/>
        </p:spPr>
      </p:sp>
      <p:sp>
        <p:nvSpPr>
          <p:cNvPr id="40" name="RowFile10"/>
          <p:cNvSpPr/>
          <p:nvPr/>
        </p:nvSpPr>
        <p:spPr>
          <a:xfrm>
            <a:off x="475488" y="4078224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test_settings.py</a:t>
            </a:r>
            <a:endParaRPr lang="en-US" dirty="0"/>
          </a:p>
        </p:txBody>
      </p:sp>
      <p:sp>
        <p:nvSpPr>
          <p:cNvPr id="41" name="RowAssert10"/>
          <p:cNvSpPr/>
          <p:nvPr/>
        </p:nvSpPr>
        <p:spPr>
          <a:xfrm>
            <a:off x="3566160" y="4078224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loads, global config, BU config, save buttons</a:t>
            </a:r>
            <a:endParaRPr lang="en-US" dirty="0"/>
          </a:p>
        </p:txBody>
      </p:sp>
      <p:sp>
        <p:nvSpPr>
          <p:cNvPr id="42" name="Row11"/>
          <p:cNvSpPr/>
          <p:nvPr/>
        </p:nvSpPr>
        <p:spPr>
          <a:xfrm>
            <a:off x="365760" y="4293108"/>
            <a:ext cx="8412480" cy="242316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43" name="RowFile11"/>
          <p:cNvSpPr/>
          <p:nvPr/>
        </p:nvSpPr>
        <p:spPr>
          <a:xfrm>
            <a:off x="475488" y="4320540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test_audit_logger.py</a:t>
            </a:r>
            <a:endParaRPr lang="en-US" dirty="0"/>
          </a:p>
        </p:txBody>
      </p:sp>
      <p:sp>
        <p:nvSpPr>
          <p:cNvPr id="44" name="RowAssert11"/>
          <p:cNvSpPr/>
          <p:nvPr/>
        </p:nvSpPr>
        <p:spPr>
          <a:xfrm>
            <a:off x="3566160" y="4320540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is_loaded(), search input, download fallback</a:t>
            </a:r>
            <a:endParaRPr lang="en-US" dirty="0"/>
          </a:p>
        </p:txBody>
      </p:sp>
      <p:sp>
        <p:nvSpPr>
          <p:cNvPr id="45" name="Row12"/>
          <p:cNvSpPr/>
          <p:nvPr/>
        </p:nvSpPr>
        <p:spPr>
          <a:xfrm>
            <a:off x="365760" y="4535424"/>
            <a:ext cx="8412480" cy="242316"/>
          </a:xfrm>
          <a:prstGeom prst="rect">
            <a:avLst/>
          </a:prstGeom>
          <a:solidFill>
            <a:srgbClr val="112255"/>
          </a:solidFill>
          <a:ln/>
        </p:spPr>
      </p:sp>
      <p:sp>
        <p:nvSpPr>
          <p:cNvPr id="46" name="RowFile12"/>
          <p:cNvSpPr/>
          <p:nvPr/>
        </p:nvSpPr>
        <p:spPr>
          <a:xfrm>
            <a:off x="475488" y="4562856"/>
            <a:ext cx="29992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test_recon_report.py</a:t>
            </a:r>
            <a:endParaRPr lang="en-US" dirty="0"/>
          </a:p>
        </p:txBody>
      </p:sp>
      <p:sp>
        <p:nvSpPr>
          <p:cNvPr id="47" name="RowAssert12"/>
          <p:cNvSpPr/>
          <p:nvPr/>
        </p:nvSpPr>
        <p:spPr>
          <a:xfrm>
            <a:off x="3566160" y="4562856"/>
            <a:ext cx="5074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load, list visible, download fallback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efore vs After Assertion Pattern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lideTitle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- Assertion Pattern</a:t>
            </a:r>
            <a:endParaRPr lang="en-US" dirty="0"/>
          </a:p>
        </p:txBody>
      </p:sp>
      <p:sp>
        <p:nvSpPr>
          <p:cNvPr id="4" name="SlideSubtitle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Playwright fails hard - smart_assert heals via AI on failure</a:t>
            </a:r>
            <a:endParaRPr lang="en-US" dirty="0"/>
          </a:p>
        </p:txBody>
      </p:sp>
      <p:sp>
        <p:nvSpPr>
          <p:cNvPr id="5" name="Sep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BeforeBg"/>
          <p:cNvSpPr/>
          <p:nvPr/>
        </p:nvSpPr>
        <p:spPr>
          <a:xfrm>
            <a:off x="365760" y="1280160"/>
            <a:ext cx="3840480" cy="1920240"/>
          </a:xfrm>
          <a:prstGeom prst="rect">
            <a:avLst/>
          </a:prstGeom>
          <a:solidFill>
            <a:srgbClr val="0A1F3D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BeforeHdr"/>
          <p:cNvSpPr/>
          <p:nvPr/>
        </p:nvSpPr>
        <p:spPr>
          <a:xfrm>
            <a:off x="365760" y="1280160"/>
            <a:ext cx="3840480" cy="310896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8" name="BeforeTitle"/>
          <p:cNvSpPr/>
          <p:nvPr/>
        </p:nvSpPr>
        <p:spPr>
          <a:xfrm>
            <a:off x="4572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- Fails hard on broken selector</a:t>
            </a:r>
            <a:endParaRPr lang="en-US" dirty="0"/>
          </a:p>
        </p:txBody>
      </p:sp>
      <p:sp>
        <p:nvSpPr>
          <p:cNvPr id="9" name="BeforeCode"/>
          <p:cNvSpPr/>
          <p:nvPr/>
        </p:nvSpPr>
        <p:spPr>
          <a:xfrm>
            <a:off x="475488" y="1664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letter_type_page.is_loaded(),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"Page did not load"</a:t>
            </a:r>
            <a:endParaRPr lang="en-US" dirty="0"/>
          </a:p>
        </p:txBody>
      </p:sp>
      <p:sp>
        <p:nvSpPr>
          <p:cNvPr id="10" name="BreaksNote"/>
          <p:cNvSpPr/>
          <p:nvPr/>
        </p:nvSpPr>
        <p:spPr>
          <a:xfrm>
            <a:off x="475488" y="23957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Breaks when: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renamed, DOM restructured, or placeholder changed</a:t>
            </a:r>
            <a:endParaRPr lang="en-US" dirty="0"/>
          </a:p>
        </p:txBody>
      </p:sp>
      <p:sp>
        <p:nvSpPr>
          <p:cNvPr id="11" name="VS"/>
          <p:cNvSpPr/>
          <p:nvPr/>
        </p:nvSpPr>
        <p:spPr>
          <a:xfrm>
            <a:off x="4224528" y="201168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dirty="0"/>
          </a:p>
        </p:txBody>
      </p:sp>
      <p:sp>
        <p:nvSpPr>
          <p:cNvPr id="12" name="AfterBg"/>
          <p:cNvSpPr/>
          <p:nvPr/>
        </p:nvSpPr>
        <p:spPr>
          <a:xfrm>
            <a:off x="4937760" y="1280160"/>
            <a:ext cx="3840480" cy="1920240"/>
          </a:xfrm>
          <a:prstGeom prst="rect">
            <a:avLst/>
          </a:prstGeom>
          <a:solidFill>
            <a:srgbClr val="0A1F3D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AfterHdr"/>
          <p:cNvSpPr/>
          <p:nvPr/>
        </p:nvSpPr>
        <p:spPr>
          <a:xfrm>
            <a:off x="4937760" y="1280160"/>
            <a:ext cx="3840480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AfterTitle"/>
          <p:cNvSpPr/>
          <p:nvPr/>
        </p:nvSpPr>
        <p:spPr>
          <a:xfrm>
            <a:off x="50292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- Heals via AI on failure</a:t>
            </a:r>
            <a:endParaRPr lang="en-US" dirty="0"/>
          </a:p>
        </p:txBody>
      </p:sp>
      <p:sp>
        <p:nvSpPr>
          <p:cNvPr id="15" name="AfterCode"/>
          <p:cNvSpPr/>
          <p:nvPr/>
        </p:nvSpPr>
        <p:spPr>
          <a:xfrm>
            <a:off x="5047488" y="16459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smart_assert(</a:t>
            </a:r>
            <a:endParaRPr lang="en-US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page,</a:t>
            </a:r>
            <a:endParaRPr lang="en-US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lambda: letter_type_page.is_loaded(),</a:t>
            </a:r>
            <a:endParaRPr lang="en-US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"Is the Letter Type listing page loaded?",</a:t>
            </a:r>
            <a:endParaRPr lang="en-US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"Page did not load"</a:t>
            </a:r>
            <a:endParaRPr lang="en-US" dirty="0"/>
          </a:p>
        </p:txBody>
      </p:sp>
      <p:sp>
        <p:nvSpPr>
          <p:cNvPr id="16" name="FlowBg"/>
          <p:cNvSpPr/>
          <p:nvPr/>
        </p:nvSpPr>
        <p:spPr>
          <a:xfrm>
            <a:off x="365760" y="3310128"/>
            <a:ext cx="8412480" cy="1481328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FlowHead"/>
          <p:cNvSpPr/>
          <p:nvPr/>
        </p:nvSpPr>
        <p:spPr>
          <a:xfrm>
            <a:off x="502920" y="3337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AT RUNTIME</a:t>
            </a:r>
            <a:endParaRPr lang="en-US" dirty="0"/>
          </a:p>
        </p:txBody>
      </p:sp>
      <p:sp>
        <p:nvSpPr>
          <p:cNvPr id="18" name="StepBg"/>
          <p:cNvSpPr/>
          <p:nvPr/>
        </p:nvSpPr>
        <p:spPr>
          <a:xfrm>
            <a:off x="475488" y="3630168"/>
            <a:ext cx="2651760" cy="100584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9" name="StepAccent"/>
          <p:cNvSpPr/>
          <p:nvPr/>
        </p:nvSpPr>
        <p:spPr>
          <a:xfrm>
            <a:off x="475488" y="3630168"/>
            <a:ext cx="265176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StepNum"/>
          <p:cNvSpPr/>
          <p:nvPr/>
        </p:nvSpPr>
        <p:spPr>
          <a:xfrm>
            <a:off x="585216" y="3749039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dirty="0"/>
          </a:p>
        </p:txBody>
      </p:sp>
      <p:sp>
        <p:nvSpPr>
          <p:cNvPr id="21" name="StepTitle"/>
          <p:cNvSpPr/>
          <p:nvPr/>
        </p:nvSpPr>
        <p:spPr>
          <a:xfrm>
            <a:off x="1115568" y="3749039"/>
            <a:ext cx="1874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Playwright check</a:t>
            </a:r>
            <a:endParaRPr lang="en-US" dirty="0"/>
          </a:p>
        </p:txBody>
      </p:sp>
      <p:sp>
        <p:nvSpPr>
          <p:cNvPr id="22" name="StepDesc"/>
          <p:cNvSpPr/>
          <p:nvPr/>
        </p:nvSpPr>
        <p:spPr>
          <a:xfrm>
            <a:off x="585216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= done, zero API cost, instant</a:t>
            </a:r>
            <a:endParaRPr lang="en-US" dirty="0"/>
          </a:p>
        </p:txBody>
      </p:sp>
      <p:sp>
        <p:nvSpPr>
          <p:cNvPr id="23" name="StepBg"/>
          <p:cNvSpPr/>
          <p:nvPr/>
        </p:nvSpPr>
        <p:spPr>
          <a:xfrm>
            <a:off x="3355848" y="3630168"/>
            <a:ext cx="2651760" cy="100584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24" name="StepAccent"/>
          <p:cNvSpPr/>
          <p:nvPr/>
        </p:nvSpPr>
        <p:spPr>
          <a:xfrm>
            <a:off x="3355848" y="3630168"/>
            <a:ext cx="2651760" cy="914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5" name="StepNum"/>
          <p:cNvSpPr/>
          <p:nvPr/>
        </p:nvSpPr>
        <p:spPr>
          <a:xfrm>
            <a:off x="3465576" y="3749039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dirty="0"/>
          </a:p>
        </p:txBody>
      </p:sp>
      <p:sp>
        <p:nvSpPr>
          <p:cNvPr id="26" name="StepTitle"/>
          <p:cNvSpPr/>
          <p:nvPr/>
        </p:nvSpPr>
        <p:spPr>
          <a:xfrm>
            <a:off x="3995928" y="3749039"/>
            <a:ext cx="1874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 - Gemini activates</a:t>
            </a:r>
            <a:endParaRPr lang="en-US" dirty="0"/>
          </a:p>
        </p:txBody>
      </p:sp>
      <p:sp>
        <p:nvSpPr>
          <p:cNvPr id="27" name="StepDesc"/>
          <p:cNvSpPr/>
          <p:nvPr/>
        </p:nvSpPr>
        <p:spPr>
          <a:xfrm>
            <a:off x="3465576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screenshot, answers yes/no question</a:t>
            </a:r>
            <a:endParaRPr lang="en-US" dirty="0"/>
          </a:p>
        </p:txBody>
      </p:sp>
      <p:sp>
        <p:nvSpPr>
          <p:cNvPr id="28" name="StepBg"/>
          <p:cNvSpPr/>
          <p:nvPr/>
        </p:nvSpPr>
        <p:spPr>
          <a:xfrm>
            <a:off x="6236208" y="3630168"/>
            <a:ext cx="2651760" cy="100584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29" name="StepAccent"/>
          <p:cNvSpPr/>
          <p:nvPr/>
        </p:nvSpPr>
        <p:spPr>
          <a:xfrm>
            <a:off x="6236208" y="3630168"/>
            <a:ext cx="265176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StepNum"/>
          <p:cNvSpPr/>
          <p:nvPr/>
        </p:nvSpPr>
        <p:spPr>
          <a:xfrm>
            <a:off x="6345936" y="3749039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dirty="0"/>
          </a:p>
        </p:txBody>
      </p:sp>
      <p:sp>
        <p:nvSpPr>
          <p:cNvPr id="31" name="StepTitle"/>
          <p:cNvSpPr/>
          <p:nvPr/>
        </p:nvSpPr>
        <p:spPr>
          <a:xfrm>
            <a:off x="6876288" y="3749039"/>
            <a:ext cx="1874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AI answer</a:t>
            </a:r>
            <a:endParaRPr lang="en-US" dirty="0"/>
          </a:p>
        </p:txBody>
      </p:sp>
      <p:sp>
        <p:nvSpPr>
          <p:cNvPr id="32" name="StepDesc"/>
          <p:cNvSpPr/>
          <p:nvPr/>
        </p:nvSpPr>
        <p:spPr>
          <a:xfrm>
            <a:off x="6345936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passes or fails based on visual reality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to Run Agentic Tests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lideTitle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Agentic Tests</a:t>
            </a:r>
            <a:endParaRPr lang="en-US" dirty="0"/>
          </a:p>
        </p:txBody>
      </p:sp>
      <p:sp>
        <p:nvSpPr>
          <p:cNvPr id="4" name="SlideSubtitle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run - pick what you need</a:t>
            </a:r>
            <a:endParaRPr lang="en-US" dirty="0"/>
          </a:p>
        </p:txBody>
      </p:sp>
      <p:sp>
        <p:nvSpPr>
          <p:cNvPr id="5" name="Sep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CardBg"/>
          <p:cNvSpPr/>
          <p:nvPr/>
        </p:nvSpPr>
        <p:spPr>
          <a:xfrm>
            <a:off x="365760" y="1298448"/>
            <a:ext cx="8412480" cy="960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CardAccent"/>
          <p:cNvSpPr/>
          <p:nvPr/>
        </p:nvSpPr>
        <p:spPr>
          <a:xfrm>
            <a:off x="365760" y="1298448"/>
            <a:ext cx="91440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CardTitle"/>
          <p:cNvSpPr/>
          <p:nvPr/>
        </p:nvSpPr>
        <p:spPr>
          <a:xfrm>
            <a:off x="566928" y="135331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agentic tests (59 sanity + 8 pure AI)</a:t>
            </a:r>
            <a:endParaRPr lang="en-US" dirty="0"/>
          </a:p>
        </p:txBody>
      </p:sp>
      <p:sp>
        <p:nvSpPr>
          <p:cNvPr id="9" name="CodeBg"/>
          <p:cNvSpPr/>
          <p:nvPr/>
        </p:nvSpPr>
        <p:spPr>
          <a:xfrm>
            <a:off x="566928" y="1664207"/>
            <a:ext cx="4754880" cy="329184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0" name="CodeText"/>
          <p:cNvSpPr/>
          <p:nvPr/>
        </p:nvSpPr>
        <p:spPr>
          <a:xfrm>
            <a:off x="658368" y="1682495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 -m agentic -v</a:t>
            </a:r>
            <a:endParaRPr lang="en-US" dirty="0"/>
          </a:p>
        </p:txBody>
      </p:sp>
      <p:sp>
        <p:nvSpPr>
          <p:cNvPr id="11" name="NoteText"/>
          <p:cNvSpPr/>
          <p:nvPr/>
        </p:nvSpPr>
        <p:spPr>
          <a:xfrm>
            <a:off x="5440680" y="1627631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67 tests tagged pytest.mark.agentic - full hybrid + pure AI suite</a:t>
            </a:r>
            <a:endParaRPr lang="en-US" dirty="0"/>
          </a:p>
        </p:txBody>
      </p:sp>
      <p:sp>
        <p:nvSpPr>
          <p:cNvPr id="12" name="CardBg"/>
          <p:cNvSpPr/>
          <p:nvPr/>
        </p:nvSpPr>
        <p:spPr>
          <a:xfrm>
            <a:off x="365760" y="2395728"/>
            <a:ext cx="8412480" cy="960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CardAccent"/>
          <p:cNvSpPr/>
          <p:nvPr/>
        </p:nvSpPr>
        <p:spPr>
          <a:xfrm>
            <a:off x="365760" y="2395728"/>
            <a:ext cx="9144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CardTitle"/>
          <p:cNvSpPr/>
          <p:nvPr/>
        </p:nvSpPr>
        <p:spPr>
          <a:xfrm>
            <a:off x="566928" y="245059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only pure AI agent tests (Level 1/2/3)</a:t>
            </a:r>
            <a:endParaRPr lang="en-US" dirty="0"/>
          </a:p>
        </p:txBody>
      </p:sp>
      <p:sp>
        <p:nvSpPr>
          <p:cNvPr id="15" name="CodeBg"/>
          <p:cNvSpPr/>
          <p:nvPr/>
        </p:nvSpPr>
        <p:spPr>
          <a:xfrm>
            <a:off x="566928" y="2761488"/>
            <a:ext cx="4754880" cy="329184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6" name="CodeText"/>
          <p:cNvSpPr/>
          <p:nvPr/>
        </p:nvSpPr>
        <p:spPr>
          <a:xfrm>
            <a:off x="658368" y="27797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tests/test_agentic.py -v -s</a:t>
            </a:r>
            <a:endParaRPr lang="en-US" dirty="0"/>
          </a:p>
        </p:txBody>
      </p:sp>
      <p:sp>
        <p:nvSpPr>
          <p:cNvPr id="17" name="NoteText"/>
          <p:cNvSpPr/>
          <p:nvPr/>
        </p:nvSpPr>
        <p:spPr>
          <a:xfrm>
            <a:off x="5440680" y="27249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original agentic tests: visual assertions, self-healing, autonomous agent</a:t>
            </a:r>
            <a:endParaRPr lang="en-US" dirty="0"/>
          </a:p>
        </p:txBody>
      </p:sp>
      <p:sp>
        <p:nvSpPr>
          <p:cNvPr id="18" name="CardBg"/>
          <p:cNvSpPr/>
          <p:nvPr/>
        </p:nvSpPr>
        <p:spPr>
          <a:xfrm>
            <a:off x="365760" y="3493008"/>
            <a:ext cx="8412480" cy="960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CardAccent"/>
          <p:cNvSpPr/>
          <p:nvPr/>
        </p:nvSpPr>
        <p:spPr>
          <a:xfrm>
            <a:off x="365760" y="3493008"/>
            <a:ext cx="91440" cy="9601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0" name="CardTitle"/>
          <p:cNvSpPr/>
          <p:nvPr/>
        </p:nvSpPr>
        <p:spPr>
          <a:xfrm>
            <a:off x="566928" y="354787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sanity suite (now all agentic)</a:t>
            </a:r>
            <a:endParaRPr lang="en-US" dirty="0"/>
          </a:p>
        </p:txBody>
      </p:sp>
      <p:sp>
        <p:nvSpPr>
          <p:cNvPr id="21" name="CodeBg"/>
          <p:cNvSpPr/>
          <p:nvPr/>
        </p:nvSpPr>
        <p:spPr>
          <a:xfrm>
            <a:off x="566928" y="3858768"/>
            <a:ext cx="4754880" cy="329184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22" name="CodeText"/>
          <p:cNvSpPr/>
          <p:nvPr/>
        </p:nvSpPr>
        <p:spPr>
          <a:xfrm>
            <a:off x="658368" y="3877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 -m sanity -v</a:t>
            </a:r>
            <a:endParaRPr lang="en-US" dirty="0"/>
          </a:p>
        </p:txBody>
      </p:sp>
      <p:sp>
        <p:nvSpPr>
          <p:cNvPr id="23" name="NoteText"/>
          <p:cNvSpPr/>
          <p:nvPr/>
        </p:nvSpPr>
        <p:spPr>
          <a:xfrm>
            <a:off x="5440680" y="38221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59 sanity tests - each now includes smart_assert hybrid AI fallback</a:t>
            </a:r>
            <a:endParaRPr lang="en-US" dirty="0"/>
          </a:p>
        </p:txBody>
      </p:sp>
      <p:sp>
        <p:nvSpPr>
          <p:cNvPr id="24" name="PrereqBg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25" name="PrereqLine1"/>
          <p:cNvSpPr/>
          <p:nvPr/>
        </p:nvSpPr>
        <p:spPr>
          <a:xfrm>
            <a:off x="502920" y="43342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PREREQUISITE: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GEMINI_API_KEY must be set in .env</a:t>
            </a:r>
            <a:endParaRPr lang="en-US" dirty="0"/>
          </a:p>
        </p:txBody>
      </p:sp>
      <p:sp>
        <p:nvSpPr>
          <p:cNvPr id="26" name="PrereqLine2"/>
          <p:cNvSpPr/>
          <p:nvPr/>
        </p:nvSpPr>
        <p:spPr>
          <a:xfrm>
            <a:off x="50292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smart_assert falls back to Playwright result gracefully - no crashes, no noise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tic Test Levels Summary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lideTitle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Test Levels - Summary</a:t>
            </a:r>
            <a:endParaRPr lang="en-US" dirty="0"/>
          </a:p>
        </p:txBody>
      </p:sp>
      <p:sp>
        <p:nvSpPr>
          <p:cNvPr id="4" name="SlideSubtitle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visual assertions to fully autonomous browser control</a:t>
            </a:r>
            <a:endParaRPr lang="en-US" dirty="0"/>
          </a:p>
        </p:txBody>
      </p:sp>
      <p:sp>
        <p:nvSpPr>
          <p:cNvPr id="5" name="Sep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LevelBg"/>
          <p:cNvSpPr/>
          <p:nvPr/>
        </p:nvSpPr>
        <p:spPr>
          <a:xfrm>
            <a:off x="365760" y="1298448"/>
            <a:ext cx="2697480" cy="3246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LevelAccent"/>
          <p:cNvSpPr/>
          <p:nvPr/>
        </p:nvSpPr>
        <p:spPr>
          <a:xfrm>
            <a:off x="365760" y="1298448"/>
            <a:ext cx="26974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LevelNum"/>
          <p:cNvSpPr/>
          <p:nvPr/>
        </p:nvSpPr>
        <p:spPr>
          <a:xfrm>
            <a:off x="502920" y="1426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dirty="0"/>
          </a:p>
        </p:txBody>
      </p:sp>
      <p:sp>
        <p:nvSpPr>
          <p:cNvPr id="9" name="LevelTitle"/>
          <p:cNvSpPr/>
          <p:nvPr/>
        </p:nvSpPr>
        <p:spPr>
          <a:xfrm>
            <a:off x="502920" y="1828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dirty="0"/>
          </a:p>
        </p:txBody>
      </p:sp>
      <p:sp>
        <p:nvSpPr>
          <p:cNvPr id="10" name="LevelFn"/>
          <p:cNvSpPr/>
          <p:nvPr/>
        </p:nvSpPr>
        <p:spPr>
          <a:xfrm>
            <a:off x="502920" y="2176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smart_assert / ai_verify</a:t>
            </a:r>
            <a:endParaRPr lang="en-US" dirty="0"/>
          </a:p>
        </p:txBody>
      </p:sp>
      <p:sp>
        <p:nvSpPr>
          <p:cNvPr id="11" name="Bullet"/>
          <p:cNvSpPr/>
          <p:nvPr/>
        </p:nvSpPr>
        <p:spPr>
          <a:xfrm>
            <a:off x="502920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looks at screenshot, answers yes/no</a:t>
            </a:r>
            <a:endParaRPr lang="en-US" dirty="0"/>
          </a:p>
        </p:txBody>
      </p:sp>
      <p:sp>
        <p:nvSpPr>
          <p:cNvPr id="12" name="Bullet"/>
          <p:cNvSpPr/>
          <p:nvPr/>
        </p:nvSpPr>
        <p:spPr>
          <a:xfrm>
            <a:off x="502920" y="31455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all 59 converted tests as fallback</a:t>
            </a:r>
            <a:endParaRPr lang="en-US" dirty="0"/>
          </a:p>
        </p:txBody>
      </p:sp>
      <p:sp>
        <p:nvSpPr>
          <p:cNvPr id="13" name="Bullet"/>
          <p:cNvSpPr/>
          <p:nvPr/>
        </p:nvSpPr>
        <p:spPr>
          <a:xfrm>
            <a:off x="502920" y="3749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ai_verify() still in test_agentic.py</a:t>
            </a:r>
            <a:endParaRPr lang="en-US" dirty="0"/>
          </a:p>
        </p:txBody>
      </p:sp>
      <p:sp>
        <p:nvSpPr>
          <p:cNvPr id="14" name="LevelBg"/>
          <p:cNvSpPr/>
          <p:nvPr/>
        </p:nvSpPr>
        <p:spPr>
          <a:xfrm>
            <a:off x="3200400" y="1298448"/>
            <a:ext cx="2697480" cy="3246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LevelAccent"/>
          <p:cNvSpPr/>
          <p:nvPr/>
        </p:nvSpPr>
        <p:spPr>
          <a:xfrm>
            <a:off x="3200400" y="1298448"/>
            <a:ext cx="26974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LevelNum"/>
          <p:cNvSpPr/>
          <p:nvPr/>
        </p:nvSpPr>
        <p:spPr>
          <a:xfrm>
            <a:off x="3337560" y="1426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dirty="0"/>
          </a:p>
        </p:txBody>
      </p:sp>
      <p:sp>
        <p:nvSpPr>
          <p:cNvPr id="17" name="LevelTitle"/>
          <p:cNvSpPr/>
          <p:nvPr/>
        </p:nvSpPr>
        <p:spPr>
          <a:xfrm>
            <a:off x="3337560" y="1828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</a:t>
            </a:r>
            <a:endParaRPr lang="en-US" dirty="0"/>
          </a:p>
        </p:txBody>
      </p:sp>
      <p:sp>
        <p:nvSpPr>
          <p:cNvPr id="18" name="LevelFn"/>
          <p:cNvSpPr/>
          <p:nvPr/>
        </p:nvSpPr>
        <p:spPr>
          <a:xfrm>
            <a:off x="3337560" y="2176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ai_find_selector</a:t>
            </a:r>
            <a:endParaRPr lang="en-US" dirty="0"/>
          </a:p>
        </p:txBody>
      </p:sp>
      <p:sp>
        <p:nvSpPr>
          <p:cNvPr id="19" name="Bullet"/>
          <p:cNvSpPr/>
          <p:nvPr/>
        </p:nvSpPr>
        <p:spPr>
          <a:xfrm>
            <a:off x="3337560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inspects live DOM, returns working CSS selector</a:t>
            </a:r>
            <a:endParaRPr lang="en-US" dirty="0"/>
          </a:p>
        </p:txBody>
      </p:sp>
      <p:sp>
        <p:nvSpPr>
          <p:cNvPr id="20" name="Bullet"/>
          <p:cNvSpPr/>
          <p:nvPr/>
        </p:nvSpPr>
        <p:spPr>
          <a:xfrm>
            <a:off x="3337560" y="31455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TestAISelfHealingSelectors (2 tests)</a:t>
            </a:r>
            <a:endParaRPr lang="en-US" dirty="0"/>
          </a:p>
        </p:txBody>
      </p:sp>
      <p:sp>
        <p:nvSpPr>
          <p:cNvPr id="21" name="Bullet"/>
          <p:cNvSpPr/>
          <p:nvPr/>
        </p:nvSpPr>
        <p:spPr>
          <a:xfrm>
            <a:off x="3337560" y="3749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maintenance cost near zero</a:t>
            </a:r>
            <a:endParaRPr lang="en-US" dirty="0"/>
          </a:p>
        </p:txBody>
      </p:sp>
      <p:sp>
        <p:nvSpPr>
          <p:cNvPr id="22" name="LevelBg"/>
          <p:cNvSpPr/>
          <p:nvPr/>
        </p:nvSpPr>
        <p:spPr>
          <a:xfrm>
            <a:off x="6035040" y="1298448"/>
            <a:ext cx="2697480" cy="3246120"/>
          </a:xfrm>
          <a:prstGeom prst="rect">
            <a:avLst/>
          </a:prstGeom>
          <a:solidFill>
            <a:srgbClr val="11225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LevelAccent"/>
          <p:cNvSpPr/>
          <p:nvPr/>
        </p:nvSpPr>
        <p:spPr>
          <a:xfrm>
            <a:off x="6035040" y="1298448"/>
            <a:ext cx="2697480" cy="914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4" name="LevelNum"/>
          <p:cNvSpPr/>
          <p:nvPr/>
        </p:nvSpPr>
        <p:spPr>
          <a:xfrm>
            <a:off x="6172200" y="1426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dirty="0"/>
          </a:p>
        </p:txBody>
      </p:sp>
      <p:sp>
        <p:nvSpPr>
          <p:cNvPr id="25" name="LevelTitle"/>
          <p:cNvSpPr/>
          <p:nvPr/>
        </p:nvSpPr>
        <p:spPr>
          <a:xfrm>
            <a:off x="6172200" y="1828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dirty="0"/>
          </a:p>
        </p:txBody>
      </p:sp>
      <p:sp>
        <p:nvSpPr>
          <p:cNvPr id="26" name="LevelFn"/>
          <p:cNvSpPr/>
          <p:nvPr/>
        </p:nvSpPr>
        <p:spPr>
          <a:xfrm>
            <a:off x="6172200" y="2176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AIAgent.run_steps</a:t>
            </a:r>
            <a:endParaRPr lang="en-US" dirty="0"/>
          </a:p>
        </p:txBody>
      </p:sp>
      <p:sp>
        <p:nvSpPr>
          <p:cNvPr id="27" name="Bullet"/>
          <p:cNvSpPr/>
          <p:nvPr/>
        </p:nvSpPr>
        <p:spPr>
          <a:xfrm>
            <a:off x="6172200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steps executed by Gemini autonomously</a:t>
            </a:r>
            <a:endParaRPr lang="en-US" dirty="0"/>
          </a:p>
        </p:txBody>
      </p:sp>
      <p:sp>
        <p:nvSpPr>
          <p:cNvPr id="28" name="Bullet"/>
          <p:cNvSpPr/>
          <p:nvPr/>
        </p:nvSpPr>
        <p:spPr>
          <a:xfrm>
            <a:off x="6172200" y="31455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TestAIAutonomousAgent (2 tests)</a:t>
            </a:r>
            <a:endParaRPr lang="en-US" dirty="0"/>
          </a:p>
        </p:txBody>
      </p:sp>
      <p:sp>
        <p:nvSpPr>
          <p:cNvPr id="29" name="Bullet"/>
          <p:cNvSpPr/>
          <p:nvPr/>
        </p:nvSpPr>
        <p:spPr>
          <a:xfrm>
            <a:off x="6172200" y="3749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0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selectors written - AI drives every click</a:t>
            </a:r>
            <a:endParaRPr lang="en-US" dirty="0"/>
          </a:p>
        </p:txBody>
      </p:sp>
      <p:sp>
        <p:nvSpPr>
          <p:cNvPr id="30" name="SumBg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1" name="SumText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Total: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59 hybrid + 8 pure = </a:t>
            </a: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tests</a:t>
            </a: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tagged  </a:t>
            </a: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pytest.mark.agentic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E2E Testing with Gemini AI</dc:title>
  <dc:subject>PptxGenJS Presentation</dc:subject>
  <dc:creator>Lead QA Engineer — EX Squared</dc:creator>
  <cp:lastModifiedBy>Lead QA Engineer — EX Squared</cp:lastModifiedBy>
  <cp:revision>1</cp:revision>
  <dcterms:created xsi:type="dcterms:W3CDTF">2026-05-07T14:47:10Z</dcterms:created>
  <dcterms:modified xsi:type="dcterms:W3CDTF">2026-05-07T14:47:10Z</dcterms:modified>
</cp:coreProperties>
</file>